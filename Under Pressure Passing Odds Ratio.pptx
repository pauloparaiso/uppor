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73" r:id="rId3"/>
    <p:sldId id="274" r:id="rId4"/>
    <p:sldId id="275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72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38" autoAdjust="0"/>
    <p:restoredTop sz="94660"/>
  </p:normalViewPr>
  <p:slideViewPr>
    <p:cSldViewPr snapToGrid="0">
      <p:cViewPr varScale="1">
        <p:scale>
          <a:sx n="65" d="100"/>
          <a:sy n="65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CAE1E-0AD7-441F-AAE4-0A95108643D7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1EA8E-1E1E-46BC-8479-9174B525F2A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454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EA8E-1E1E-46BC-8479-9174B525F2A5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0487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4448-7AB8-7A09-C9DA-65368460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4A917DF-DDDF-586B-BA88-513072770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5693CFF-62A4-1C47-0358-C97F6769D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EAAC99A-881A-BFA5-02F7-33C8767D3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EA8E-1E1E-46BC-8479-9174B525F2A5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423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66E1D-5A55-A29B-DAE6-B15B460D8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4E3A7A-B700-480A-5C4B-86898B357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8C0163A-1982-A1DB-F917-35A68D96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15563ED-3209-52FD-6D70-DBF4F44B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2C847E2-75B6-BF97-0FC6-2EBAE711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04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423AD-D352-E9F9-134B-981970C3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E24451-B69A-67E2-A6F5-DC48AEC8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BF2484B-6ACA-D2AE-1084-6976EE0B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93EC875-7ADE-E54A-1371-AE19629F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53C7BE6-8EBF-E9B2-2EE8-D9B49B96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011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5FBAB-F6A4-42AC-D962-F559F2469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816F178-350A-CEDD-43FC-2E017D886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A43AB81-733E-96F1-DB02-6BC71F43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3312F7F-177E-6EE0-8EA8-18AC5FE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79E484-12A0-876B-7F8F-C00B27B2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713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FAA33-73DC-BFCB-D574-EAC45D1C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6E855F0-F84B-8D51-C4DF-97BE42703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787FC44-BF78-4F8B-D176-1359FAD5F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1E4F25A-578C-98CB-D2C2-A269B059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690234D-F372-8BF6-81F8-50F29128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2AB9C76-800C-C332-796C-396C8641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26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4F1F7-72EE-F7B7-D428-35CFBE0A3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E18FD6-53E7-5E65-5356-0F24FF8E4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BE3B0AE-1178-B0F2-A058-C0900298A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9856A1D-99E6-3AD8-5B18-77C7E5660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3E42E96-1DD0-F6C9-BCEB-8DD9AF99E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52BE853-41E2-70FC-49B8-5E8B7AFB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A8E2ABE-FDE3-AAAE-6A6A-04A70022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9AB4F16-7FA1-34D9-CA06-256E8894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8270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C0CD6-83CB-0E64-4388-772DD5E1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1BDF60B-E913-743F-AE72-32ABE8F9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C6EFC7A-46F3-94A8-EB5B-6918B595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505C24E-6D9F-CB9F-7168-CE1A10BF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1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3403CCC-5883-F9C2-0C3A-4807941A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BFCB39-A057-7D14-720A-32A930C9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51337AD-7EE3-0F63-1512-60D95787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100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C6DE6-53DA-EC88-BF2C-665EDDB6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EB848AC-AC1A-FEB3-6ED8-9092E447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6B4A84E-F549-1E7A-81E1-6A5D75BF9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2EAAFBC-6113-CE59-8773-D6255C10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A32EE13-99D5-731C-D68A-334D2428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B167A4A-ED69-0D9D-EDD8-9BE1DDCB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5460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1BBBC-9C0D-DE9F-18F1-BCC0FCE8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6B5231A-8A50-89D4-EAB6-26D0FA007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5946799-7331-60BB-1D7D-4EB451C8A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FAEDD34-5070-954B-05FA-C995EDEA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7202C72-33A7-4D1C-A1BE-66B5054B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E4E79D2-32C9-007A-8E51-95427A7E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860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C9485-1B15-05E5-58E8-C812C6E23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44AADE2-D4E1-111F-1853-163748448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EB9C5C0-4B9E-9456-4DD5-41B7686B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B252D08-C457-16F2-67C1-57665F06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55B8C19-B969-062B-A83D-4B6C7325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733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602B94-69EF-397D-CE46-E0B0D02F8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926C247-864B-7D83-09A2-C586A497E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8C10B80-A56B-D2A1-BF39-A4778215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16BD92B-FE23-DE8D-875E-E25790AF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7081E8-09C7-E3CF-0F01-F1A1D1A0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237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7C212F7-184D-4A49-A276-228D2606CDAA}"/>
              </a:ext>
            </a:extLst>
          </p:cNvPr>
          <p:cNvSpPr/>
          <p:nvPr userDrawn="1"/>
        </p:nvSpPr>
        <p:spPr>
          <a:xfrm rot="2710283">
            <a:off x="3230156" y="-3604334"/>
            <a:ext cx="5188206" cy="13481605"/>
          </a:xfrm>
          <a:custGeom>
            <a:avLst/>
            <a:gdLst>
              <a:gd name="connsiteX0" fmla="*/ 4872276 w 5188206"/>
              <a:gd name="connsiteY0" fmla="*/ 0 h 13481605"/>
              <a:gd name="connsiteX1" fmla="*/ 5188206 w 5188206"/>
              <a:gd name="connsiteY1" fmla="*/ 314046 h 13481605"/>
              <a:gd name="connsiteX2" fmla="*/ 5188206 w 5188206"/>
              <a:gd name="connsiteY2" fmla="*/ 9409991 h 13481605"/>
              <a:gd name="connsiteX3" fmla="*/ 1140878 w 5188206"/>
              <a:gd name="connsiteY3" fmla="*/ 13481605 h 13481605"/>
              <a:gd name="connsiteX4" fmla="*/ 0 w 5188206"/>
              <a:gd name="connsiteY4" fmla="*/ 12347532 h 13481605"/>
              <a:gd name="connsiteX5" fmla="*/ 1 w 5188206"/>
              <a:gd name="connsiteY5" fmla="*/ 4901511 h 13481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8206" h="13481605">
                <a:moveTo>
                  <a:pt x="4872276" y="0"/>
                </a:moveTo>
                <a:lnTo>
                  <a:pt x="5188206" y="314046"/>
                </a:lnTo>
                <a:lnTo>
                  <a:pt x="5188206" y="9409991"/>
                </a:lnTo>
                <a:lnTo>
                  <a:pt x="1140878" y="13481605"/>
                </a:lnTo>
                <a:lnTo>
                  <a:pt x="0" y="12347532"/>
                </a:lnTo>
                <a:lnTo>
                  <a:pt x="1" y="4901511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C027D-380B-4189-ADCD-4C61FF036C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7" t="29014" r="22468" b="1915"/>
          <a:stretch/>
        </p:blipFill>
        <p:spPr>
          <a:xfrm>
            <a:off x="7291761" y="1"/>
            <a:ext cx="490023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200259-84FB-42E8-BC41-9E22E38BFF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69" t="27510"/>
          <a:stretch/>
        </p:blipFill>
        <p:spPr>
          <a:xfrm>
            <a:off x="-147" y="0"/>
            <a:ext cx="3611440" cy="6904883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363273D-08D0-4F61-9C43-8F313C85A4FB}"/>
              </a:ext>
            </a:extLst>
          </p:cNvPr>
          <p:cNvSpPr/>
          <p:nvPr userDrawn="1"/>
        </p:nvSpPr>
        <p:spPr>
          <a:xfrm rot="18917560">
            <a:off x="6757340" y="5310244"/>
            <a:ext cx="2184922" cy="719634"/>
          </a:xfrm>
          <a:custGeom>
            <a:avLst/>
            <a:gdLst>
              <a:gd name="connsiteX0" fmla="*/ 212221 w 2598991"/>
              <a:gd name="connsiteY0" fmla="*/ 705872 h 856013"/>
              <a:gd name="connsiteX1" fmla="*/ 212221 w 2598991"/>
              <a:gd name="connsiteY1" fmla="*/ 705873 h 856013"/>
              <a:gd name="connsiteX2" fmla="*/ 212221 w 2598991"/>
              <a:gd name="connsiteY2" fmla="*/ 705873 h 856013"/>
              <a:gd name="connsiteX3" fmla="*/ 0 w 2598991"/>
              <a:gd name="connsiteY3" fmla="*/ 150139 h 856013"/>
              <a:gd name="connsiteX4" fmla="*/ 0 w 2598991"/>
              <a:gd name="connsiteY4" fmla="*/ 150139 h 856013"/>
              <a:gd name="connsiteX5" fmla="*/ 0 w 2598991"/>
              <a:gd name="connsiteY5" fmla="*/ 150140 h 856013"/>
              <a:gd name="connsiteX6" fmla="*/ 150140 w 2598991"/>
              <a:gd name="connsiteY6" fmla="*/ 0 h 856013"/>
              <a:gd name="connsiteX7" fmla="*/ 1824103 w 2598991"/>
              <a:gd name="connsiteY7" fmla="*/ 0 h 856013"/>
              <a:gd name="connsiteX8" fmla="*/ 1974243 w 2598991"/>
              <a:gd name="connsiteY8" fmla="*/ 150140 h 856013"/>
              <a:gd name="connsiteX9" fmla="*/ 1974242 w 2598991"/>
              <a:gd name="connsiteY9" fmla="*/ 150140 h 856013"/>
              <a:gd name="connsiteX10" fmla="*/ 1930267 w 2598991"/>
              <a:gd name="connsiteY10" fmla="*/ 256305 h 856013"/>
              <a:gd name="connsiteX11" fmla="*/ 1894334 w 2598991"/>
              <a:gd name="connsiteY11" fmla="*/ 280532 h 856013"/>
              <a:gd name="connsiteX12" fmla="*/ 2457031 w 2598991"/>
              <a:gd name="connsiteY12" fmla="*/ 280532 h 856013"/>
              <a:gd name="connsiteX13" fmla="*/ 2598991 w 2598991"/>
              <a:gd name="connsiteY13" fmla="*/ 422492 h 856013"/>
              <a:gd name="connsiteX14" fmla="*/ 2598990 w 2598991"/>
              <a:gd name="connsiteY14" fmla="*/ 422492 h 856013"/>
              <a:gd name="connsiteX15" fmla="*/ 2457030 w 2598991"/>
              <a:gd name="connsiteY15" fmla="*/ 564452 h 856013"/>
              <a:gd name="connsiteX16" fmla="*/ 2079510 w 2598991"/>
              <a:gd name="connsiteY16" fmla="*/ 564452 h 856013"/>
              <a:gd name="connsiteX17" fmla="*/ 2094765 w 2598991"/>
              <a:gd name="connsiteY17" fmla="*/ 567532 h 856013"/>
              <a:gd name="connsiteX18" fmla="*/ 2186464 w 2598991"/>
              <a:gd name="connsiteY18" fmla="*/ 705873 h 856013"/>
              <a:gd name="connsiteX19" fmla="*/ 2186463 w 2598991"/>
              <a:gd name="connsiteY19" fmla="*/ 705873 h 856013"/>
              <a:gd name="connsiteX20" fmla="*/ 2036323 w 2598991"/>
              <a:gd name="connsiteY20" fmla="*/ 856013 h 856013"/>
              <a:gd name="connsiteX21" fmla="*/ 362361 w 2598991"/>
              <a:gd name="connsiteY21" fmla="*/ 856012 h 856013"/>
              <a:gd name="connsiteX22" fmla="*/ 224020 w 2598991"/>
              <a:gd name="connsiteY22" fmla="*/ 764313 h 856013"/>
              <a:gd name="connsiteX23" fmla="*/ 212221 w 2598991"/>
              <a:gd name="connsiteY23" fmla="*/ 705873 h 856013"/>
              <a:gd name="connsiteX24" fmla="*/ 224020 w 2598991"/>
              <a:gd name="connsiteY24" fmla="*/ 647432 h 856013"/>
              <a:gd name="connsiteX25" fmla="*/ 362361 w 2598991"/>
              <a:gd name="connsiteY25" fmla="*/ 555733 h 856013"/>
              <a:gd name="connsiteX26" fmla="*/ 469765 w 2598991"/>
              <a:gd name="connsiteY26" fmla="*/ 555733 h 856013"/>
              <a:gd name="connsiteX27" fmla="*/ 480117 w 2598991"/>
              <a:gd name="connsiteY27" fmla="*/ 553643 h 856013"/>
              <a:gd name="connsiteX28" fmla="*/ 566820 w 2598991"/>
              <a:gd name="connsiteY28" fmla="*/ 422839 h 856013"/>
              <a:gd name="connsiteX29" fmla="*/ 566821 w 2598991"/>
              <a:gd name="connsiteY29" fmla="*/ 422839 h 856013"/>
              <a:gd name="connsiteX30" fmla="*/ 515161 w 2598991"/>
              <a:gd name="connsiteY30" fmla="*/ 313296 h 856013"/>
              <a:gd name="connsiteX31" fmla="*/ 493706 w 2598991"/>
              <a:gd name="connsiteY31" fmla="*/ 300279 h 856013"/>
              <a:gd name="connsiteX32" fmla="*/ 150140 w 2598991"/>
              <a:gd name="connsiteY32" fmla="*/ 300279 h 856013"/>
              <a:gd name="connsiteX33" fmla="*/ 11799 w 2598991"/>
              <a:gd name="connsiteY33" fmla="*/ 208580 h 856013"/>
              <a:gd name="connsiteX34" fmla="*/ 0 w 2598991"/>
              <a:gd name="connsiteY34" fmla="*/ 150139 h 856013"/>
              <a:gd name="connsiteX35" fmla="*/ 11799 w 2598991"/>
              <a:gd name="connsiteY35" fmla="*/ 91699 h 856013"/>
              <a:gd name="connsiteX36" fmla="*/ 150140 w 2598991"/>
              <a:gd name="connsiteY36" fmla="*/ 0 h 85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598991" h="856013">
                <a:moveTo>
                  <a:pt x="212221" y="705872"/>
                </a:moveTo>
                <a:lnTo>
                  <a:pt x="212221" y="705873"/>
                </a:lnTo>
                <a:lnTo>
                  <a:pt x="212221" y="705873"/>
                </a:lnTo>
                <a:close/>
                <a:moveTo>
                  <a:pt x="0" y="150139"/>
                </a:moveTo>
                <a:lnTo>
                  <a:pt x="0" y="150139"/>
                </a:lnTo>
                <a:lnTo>
                  <a:pt x="0" y="150140"/>
                </a:lnTo>
                <a:close/>
                <a:moveTo>
                  <a:pt x="150140" y="0"/>
                </a:moveTo>
                <a:lnTo>
                  <a:pt x="1824103" y="0"/>
                </a:lnTo>
                <a:cubicBezTo>
                  <a:pt x="1907023" y="0"/>
                  <a:pt x="1974243" y="67220"/>
                  <a:pt x="1974243" y="150140"/>
                </a:cubicBezTo>
                <a:lnTo>
                  <a:pt x="1974242" y="150140"/>
                </a:lnTo>
                <a:cubicBezTo>
                  <a:pt x="1974242" y="191600"/>
                  <a:pt x="1957437" y="229135"/>
                  <a:pt x="1930267" y="256305"/>
                </a:cubicBezTo>
                <a:lnTo>
                  <a:pt x="1894334" y="280532"/>
                </a:lnTo>
                <a:lnTo>
                  <a:pt x="2457031" y="280532"/>
                </a:lnTo>
                <a:cubicBezTo>
                  <a:pt x="2535433" y="280532"/>
                  <a:pt x="2598991" y="344090"/>
                  <a:pt x="2598991" y="422492"/>
                </a:cubicBezTo>
                <a:lnTo>
                  <a:pt x="2598990" y="422492"/>
                </a:lnTo>
                <a:cubicBezTo>
                  <a:pt x="2598990" y="500894"/>
                  <a:pt x="2535432" y="564452"/>
                  <a:pt x="2457030" y="564452"/>
                </a:cubicBezTo>
                <a:lnTo>
                  <a:pt x="2079510" y="564452"/>
                </a:lnTo>
                <a:lnTo>
                  <a:pt x="2094765" y="567532"/>
                </a:lnTo>
                <a:cubicBezTo>
                  <a:pt x="2148653" y="590324"/>
                  <a:pt x="2186464" y="643683"/>
                  <a:pt x="2186464" y="705873"/>
                </a:cubicBezTo>
                <a:lnTo>
                  <a:pt x="2186463" y="705873"/>
                </a:lnTo>
                <a:cubicBezTo>
                  <a:pt x="2186463" y="788793"/>
                  <a:pt x="2119243" y="856013"/>
                  <a:pt x="2036323" y="856013"/>
                </a:cubicBezTo>
                <a:lnTo>
                  <a:pt x="362361" y="856012"/>
                </a:lnTo>
                <a:cubicBezTo>
                  <a:pt x="300171" y="856012"/>
                  <a:pt x="246812" y="818201"/>
                  <a:pt x="224020" y="764313"/>
                </a:cubicBezTo>
                <a:lnTo>
                  <a:pt x="212221" y="705873"/>
                </a:lnTo>
                <a:lnTo>
                  <a:pt x="224020" y="647432"/>
                </a:lnTo>
                <a:cubicBezTo>
                  <a:pt x="246812" y="593544"/>
                  <a:pt x="300171" y="555733"/>
                  <a:pt x="362361" y="555733"/>
                </a:cubicBezTo>
                <a:lnTo>
                  <a:pt x="469765" y="555733"/>
                </a:lnTo>
                <a:lnTo>
                  <a:pt x="480117" y="553643"/>
                </a:lnTo>
                <a:cubicBezTo>
                  <a:pt x="531069" y="532092"/>
                  <a:pt x="566820" y="481641"/>
                  <a:pt x="566820" y="422839"/>
                </a:cubicBezTo>
                <a:lnTo>
                  <a:pt x="566821" y="422839"/>
                </a:lnTo>
                <a:cubicBezTo>
                  <a:pt x="566821" y="378738"/>
                  <a:pt x="546711" y="339334"/>
                  <a:pt x="515161" y="313296"/>
                </a:cubicBezTo>
                <a:lnTo>
                  <a:pt x="493706" y="300279"/>
                </a:lnTo>
                <a:lnTo>
                  <a:pt x="150140" y="300279"/>
                </a:lnTo>
                <a:cubicBezTo>
                  <a:pt x="87950" y="300279"/>
                  <a:pt x="34591" y="262468"/>
                  <a:pt x="11799" y="208580"/>
                </a:cubicBezTo>
                <a:lnTo>
                  <a:pt x="0" y="150139"/>
                </a:lnTo>
                <a:lnTo>
                  <a:pt x="11799" y="91699"/>
                </a:lnTo>
                <a:cubicBezTo>
                  <a:pt x="34591" y="37811"/>
                  <a:pt x="87950" y="0"/>
                  <a:pt x="150140" y="0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F144AE0-43B5-4072-B84A-2621F7237F1E}"/>
              </a:ext>
            </a:extLst>
          </p:cNvPr>
          <p:cNvSpPr/>
          <p:nvPr userDrawn="1"/>
        </p:nvSpPr>
        <p:spPr>
          <a:xfrm rot="18917560">
            <a:off x="2315319" y="657619"/>
            <a:ext cx="2184922" cy="719634"/>
          </a:xfrm>
          <a:custGeom>
            <a:avLst/>
            <a:gdLst>
              <a:gd name="connsiteX0" fmla="*/ 212221 w 2598991"/>
              <a:gd name="connsiteY0" fmla="*/ 705872 h 856013"/>
              <a:gd name="connsiteX1" fmla="*/ 212221 w 2598991"/>
              <a:gd name="connsiteY1" fmla="*/ 705873 h 856013"/>
              <a:gd name="connsiteX2" fmla="*/ 212221 w 2598991"/>
              <a:gd name="connsiteY2" fmla="*/ 705873 h 856013"/>
              <a:gd name="connsiteX3" fmla="*/ 0 w 2598991"/>
              <a:gd name="connsiteY3" fmla="*/ 150139 h 856013"/>
              <a:gd name="connsiteX4" fmla="*/ 0 w 2598991"/>
              <a:gd name="connsiteY4" fmla="*/ 150139 h 856013"/>
              <a:gd name="connsiteX5" fmla="*/ 0 w 2598991"/>
              <a:gd name="connsiteY5" fmla="*/ 150140 h 856013"/>
              <a:gd name="connsiteX6" fmla="*/ 150140 w 2598991"/>
              <a:gd name="connsiteY6" fmla="*/ 0 h 856013"/>
              <a:gd name="connsiteX7" fmla="*/ 1824103 w 2598991"/>
              <a:gd name="connsiteY7" fmla="*/ 0 h 856013"/>
              <a:gd name="connsiteX8" fmla="*/ 1974243 w 2598991"/>
              <a:gd name="connsiteY8" fmla="*/ 150140 h 856013"/>
              <a:gd name="connsiteX9" fmla="*/ 1974242 w 2598991"/>
              <a:gd name="connsiteY9" fmla="*/ 150140 h 856013"/>
              <a:gd name="connsiteX10" fmla="*/ 1930267 w 2598991"/>
              <a:gd name="connsiteY10" fmla="*/ 256305 h 856013"/>
              <a:gd name="connsiteX11" fmla="*/ 1894334 w 2598991"/>
              <a:gd name="connsiteY11" fmla="*/ 280532 h 856013"/>
              <a:gd name="connsiteX12" fmla="*/ 2457031 w 2598991"/>
              <a:gd name="connsiteY12" fmla="*/ 280532 h 856013"/>
              <a:gd name="connsiteX13" fmla="*/ 2598991 w 2598991"/>
              <a:gd name="connsiteY13" fmla="*/ 422492 h 856013"/>
              <a:gd name="connsiteX14" fmla="*/ 2598990 w 2598991"/>
              <a:gd name="connsiteY14" fmla="*/ 422492 h 856013"/>
              <a:gd name="connsiteX15" fmla="*/ 2457030 w 2598991"/>
              <a:gd name="connsiteY15" fmla="*/ 564452 h 856013"/>
              <a:gd name="connsiteX16" fmla="*/ 2079510 w 2598991"/>
              <a:gd name="connsiteY16" fmla="*/ 564452 h 856013"/>
              <a:gd name="connsiteX17" fmla="*/ 2094765 w 2598991"/>
              <a:gd name="connsiteY17" fmla="*/ 567532 h 856013"/>
              <a:gd name="connsiteX18" fmla="*/ 2186464 w 2598991"/>
              <a:gd name="connsiteY18" fmla="*/ 705873 h 856013"/>
              <a:gd name="connsiteX19" fmla="*/ 2186463 w 2598991"/>
              <a:gd name="connsiteY19" fmla="*/ 705873 h 856013"/>
              <a:gd name="connsiteX20" fmla="*/ 2036323 w 2598991"/>
              <a:gd name="connsiteY20" fmla="*/ 856013 h 856013"/>
              <a:gd name="connsiteX21" fmla="*/ 362361 w 2598991"/>
              <a:gd name="connsiteY21" fmla="*/ 856012 h 856013"/>
              <a:gd name="connsiteX22" fmla="*/ 224020 w 2598991"/>
              <a:gd name="connsiteY22" fmla="*/ 764313 h 856013"/>
              <a:gd name="connsiteX23" fmla="*/ 212221 w 2598991"/>
              <a:gd name="connsiteY23" fmla="*/ 705873 h 856013"/>
              <a:gd name="connsiteX24" fmla="*/ 224020 w 2598991"/>
              <a:gd name="connsiteY24" fmla="*/ 647432 h 856013"/>
              <a:gd name="connsiteX25" fmla="*/ 362361 w 2598991"/>
              <a:gd name="connsiteY25" fmla="*/ 555733 h 856013"/>
              <a:gd name="connsiteX26" fmla="*/ 469765 w 2598991"/>
              <a:gd name="connsiteY26" fmla="*/ 555733 h 856013"/>
              <a:gd name="connsiteX27" fmla="*/ 480117 w 2598991"/>
              <a:gd name="connsiteY27" fmla="*/ 553643 h 856013"/>
              <a:gd name="connsiteX28" fmla="*/ 566820 w 2598991"/>
              <a:gd name="connsiteY28" fmla="*/ 422839 h 856013"/>
              <a:gd name="connsiteX29" fmla="*/ 566821 w 2598991"/>
              <a:gd name="connsiteY29" fmla="*/ 422839 h 856013"/>
              <a:gd name="connsiteX30" fmla="*/ 515161 w 2598991"/>
              <a:gd name="connsiteY30" fmla="*/ 313296 h 856013"/>
              <a:gd name="connsiteX31" fmla="*/ 493706 w 2598991"/>
              <a:gd name="connsiteY31" fmla="*/ 300279 h 856013"/>
              <a:gd name="connsiteX32" fmla="*/ 150140 w 2598991"/>
              <a:gd name="connsiteY32" fmla="*/ 300279 h 856013"/>
              <a:gd name="connsiteX33" fmla="*/ 11799 w 2598991"/>
              <a:gd name="connsiteY33" fmla="*/ 208580 h 856013"/>
              <a:gd name="connsiteX34" fmla="*/ 0 w 2598991"/>
              <a:gd name="connsiteY34" fmla="*/ 150139 h 856013"/>
              <a:gd name="connsiteX35" fmla="*/ 11799 w 2598991"/>
              <a:gd name="connsiteY35" fmla="*/ 91699 h 856013"/>
              <a:gd name="connsiteX36" fmla="*/ 150140 w 2598991"/>
              <a:gd name="connsiteY36" fmla="*/ 0 h 85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598991" h="856013">
                <a:moveTo>
                  <a:pt x="212221" y="705872"/>
                </a:moveTo>
                <a:lnTo>
                  <a:pt x="212221" y="705873"/>
                </a:lnTo>
                <a:lnTo>
                  <a:pt x="212221" y="705873"/>
                </a:lnTo>
                <a:close/>
                <a:moveTo>
                  <a:pt x="0" y="150139"/>
                </a:moveTo>
                <a:lnTo>
                  <a:pt x="0" y="150139"/>
                </a:lnTo>
                <a:lnTo>
                  <a:pt x="0" y="150140"/>
                </a:lnTo>
                <a:close/>
                <a:moveTo>
                  <a:pt x="150140" y="0"/>
                </a:moveTo>
                <a:lnTo>
                  <a:pt x="1824103" y="0"/>
                </a:lnTo>
                <a:cubicBezTo>
                  <a:pt x="1907023" y="0"/>
                  <a:pt x="1974243" y="67220"/>
                  <a:pt x="1974243" y="150140"/>
                </a:cubicBezTo>
                <a:lnTo>
                  <a:pt x="1974242" y="150140"/>
                </a:lnTo>
                <a:cubicBezTo>
                  <a:pt x="1974242" y="191600"/>
                  <a:pt x="1957437" y="229135"/>
                  <a:pt x="1930267" y="256305"/>
                </a:cubicBezTo>
                <a:lnTo>
                  <a:pt x="1894334" y="280532"/>
                </a:lnTo>
                <a:lnTo>
                  <a:pt x="2457031" y="280532"/>
                </a:lnTo>
                <a:cubicBezTo>
                  <a:pt x="2535433" y="280532"/>
                  <a:pt x="2598991" y="344090"/>
                  <a:pt x="2598991" y="422492"/>
                </a:cubicBezTo>
                <a:lnTo>
                  <a:pt x="2598990" y="422492"/>
                </a:lnTo>
                <a:cubicBezTo>
                  <a:pt x="2598990" y="500894"/>
                  <a:pt x="2535432" y="564452"/>
                  <a:pt x="2457030" y="564452"/>
                </a:cubicBezTo>
                <a:lnTo>
                  <a:pt x="2079510" y="564452"/>
                </a:lnTo>
                <a:lnTo>
                  <a:pt x="2094765" y="567532"/>
                </a:lnTo>
                <a:cubicBezTo>
                  <a:pt x="2148653" y="590324"/>
                  <a:pt x="2186464" y="643683"/>
                  <a:pt x="2186464" y="705873"/>
                </a:cubicBezTo>
                <a:lnTo>
                  <a:pt x="2186463" y="705873"/>
                </a:lnTo>
                <a:cubicBezTo>
                  <a:pt x="2186463" y="788793"/>
                  <a:pt x="2119243" y="856013"/>
                  <a:pt x="2036323" y="856013"/>
                </a:cubicBezTo>
                <a:lnTo>
                  <a:pt x="362361" y="856012"/>
                </a:lnTo>
                <a:cubicBezTo>
                  <a:pt x="300171" y="856012"/>
                  <a:pt x="246812" y="818201"/>
                  <a:pt x="224020" y="764313"/>
                </a:cubicBezTo>
                <a:lnTo>
                  <a:pt x="212221" y="705873"/>
                </a:lnTo>
                <a:lnTo>
                  <a:pt x="224020" y="647432"/>
                </a:lnTo>
                <a:cubicBezTo>
                  <a:pt x="246812" y="593544"/>
                  <a:pt x="300171" y="555733"/>
                  <a:pt x="362361" y="555733"/>
                </a:cubicBezTo>
                <a:lnTo>
                  <a:pt x="469765" y="555733"/>
                </a:lnTo>
                <a:lnTo>
                  <a:pt x="480117" y="553643"/>
                </a:lnTo>
                <a:cubicBezTo>
                  <a:pt x="531069" y="532092"/>
                  <a:pt x="566820" y="481641"/>
                  <a:pt x="566820" y="422839"/>
                </a:cubicBezTo>
                <a:lnTo>
                  <a:pt x="566821" y="422839"/>
                </a:lnTo>
                <a:cubicBezTo>
                  <a:pt x="566821" y="378738"/>
                  <a:pt x="546711" y="339334"/>
                  <a:pt x="515161" y="313296"/>
                </a:cubicBezTo>
                <a:lnTo>
                  <a:pt x="493706" y="300279"/>
                </a:lnTo>
                <a:lnTo>
                  <a:pt x="150140" y="300279"/>
                </a:lnTo>
                <a:cubicBezTo>
                  <a:pt x="87950" y="300279"/>
                  <a:pt x="34591" y="262468"/>
                  <a:pt x="11799" y="208580"/>
                </a:cubicBezTo>
                <a:lnTo>
                  <a:pt x="0" y="150139"/>
                </a:lnTo>
                <a:lnTo>
                  <a:pt x="11799" y="91699"/>
                </a:lnTo>
                <a:cubicBezTo>
                  <a:pt x="34591" y="37811"/>
                  <a:pt x="87950" y="0"/>
                  <a:pt x="150140" y="0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73E14A-31CD-46CC-9655-417F344E964D}"/>
              </a:ext>
            </a:extLst>
          </p:cNvPr>
          <p:cNvSpPr/>
          <p:nvPr userDrawn="1"/>
        </p:nvSpPr>
        <p:spPr>
          <a:xfrm rot="18900000">
            <a:off x="3249095" y="3545172"/>
            <a:ext cx="898779" cy="18823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359B05-6AC3-460B-AADD-EF4FE88E5E15}"/>
              </a:ext>
            </a:extLst>
          </p:cNvPr>
          <p:cNvSpPr/>
          <p:nvPr userDrawn="1"/>
        </p:nvSpPr>
        <p:spPr>
          <a:xfrm rot="18900000">
            <a:off x="3933047" y="3402148"/>
            <a:ext cx="471088" cy="9866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01AE4C7D-0581-4EF7-B01A-57774F1B5217}"/>
              </a:ext>
            </a:extLst>
          </p:cNvPr>
          <p:cNvSpPr/>
          <p:nvPr userDrawn="1"/>
        </p:nvSpPr>
        <p:spPr>
          <a:xfrm>
            <a:off x="8690530" y="3132960"/>
            <a:ext cx="296040" cy="296040"/>
          </a:xfrm>
          <a:prstGeom prst="plus">
            <a:avLst>
              <a:gd name="adj" fmla="val 437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15BDB5E-8F00-405C-BB7A-30DEF75B5163}"/>
              </a:ext>
            </a:extLst>
          </p:cNvPr>
          <p:cNvSpPr/>
          <p:nvPr userDrawn="1"/>
        </p:nvSpPr>
        <p:spPr>
          <a:xfrm rot="1642289">
            <a:off x="1982541" y="4138539"/>
            <a:ext cx="296040" cy="296040"/>
          </a:xfrm>
          <a:prstGeom prst="plus">
            <a:avLst>
              <a:gd name="adj" fmla="val 437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EAC9489-BCB7-4E3A-A896-B35B3A48F178}"/>
              </a:ext>
            </a:extLst>
          </p:cNvPr>
          <p:cNvSpPr/>
          <p:nvPr userDrawn="1"/>
        </p:nvSpPr>
        <p:spPr>
          <a:xfrm rot="12056913">
            <a:off x="5363426" y="5089801"/>
            <a:ext cx="251202" cy="216553"/>
          </a:xfrm>
          <a:prstGeom prst="triangl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6B27FEF4-8DD6-4FAC-9895-F6E35C1DA54A}"/>
              </a:ext>
            </a:extLst>
          </p:cNvPr>
          <p:cNvSpPr/>
          <p:nvPr userDrawn="1"/>
        </p:nvSpPr>
        <p:spPr>
          <a:xfrm rot="12056913">
            <a:off x="8103105" y="591382"/>
            <a:ext cx="251202" cy="216553"/>
          </a:xfrm>
          <a:prstGeom prst="triangl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D70D1D-AA00-4B06-A452-6DFDE7FFF4E9}"/>
              </a:ext>
            </a:extLst>
          </p:cNvPr>
          <p:cNvSpPr/>
          <p:nvPr userDrawn="1"/>
        </p:nvSpPr>
        <p:spPr>
          <a:xfrm>
            <a:off x="3621417" y="2170597"/>
            <a:ext cx="213463" cy="213463"/>
          </a:xfrm>
          <a:prstGeom prst="ellips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D1B683-76F6-46BE-9D4C-38ADA1B32309}"/>
              </a:ext>
            </a:extLst>
          </p:cNvPr>
          <p:cNvSpPr/>
          <p:nvPr userDrawn="1"/>
        </p:nvSpPr>
        <p:spPr>
          <a:xfrm>
            <a:off x="10794549" y="1222466"/>
            <a:ext cx="213463" cy="213463"/>
          </a:xfrm>
          <a:prstGeom prst="ellips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4C9FD5-DF32-4DAC-8E2E-373DFB75D439}"/>
              </a:ext>
            </a:extLst>
          </p:cNvPr>
          <p:cNvSpPr/>
          <p:nvPr userDrawn="1"/>
        </p:nvSpPr>
        <p:spPr>
          <a:xfrm rot="18900000">
            <a:off x="7806765" y="2002509"/>
            <a:ext cx="898779" cy="18823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E87BE3-6EEF-461A-BBF4-750890F3D4AF}"/>
              </a:ext>
            </a:extLst>
          </p:cNvPr>
          <p:cNvSpPr/>
          <p:nvPr userDrawn="1"/>
        </p:nvSpPr>
        <p:spPr>
          <a:xfrm rot="18900000">
            <a:off x="8490717" y="1859485"/>
            <a:ext cx="471088" cy="9866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3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922674-29AA-4539-9ADB-F561E37054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9" t="22265" r="16131" b="1443"/>
          <a:stretch/>
        </p:blipFill>
        <p:spPr>
          <a:xfrm>
            <a:off x="2021305" y="0"/>
            <a:ext cx="7169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47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76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CD687E1-88FD-AF9C-8E0E-118E6A9A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4DF951-E7A2-D0F7-16D4-EAD7F0C26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DAB7A0E-F038-EE1E-0A17-6E2D2F971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7E96C-4702-48EB-B4ED-FD75F9BB984B}" type="datetimeFigureOut">
              <a:rPr lang="pt-PT" smtClean="0"/>
              <a:t>06/12/2024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85B99D2-2DC8-0725-0702-D2A072743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08C8FB8-33F3-8B65-9CDC-B07584F95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B7D60-9292-47BF-9985-32D073C227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527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16042" y="5409629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4800" b="1" i="1" dirty="0" err="1">
                <a:effectLst/>
                <a:ea typeface="Aptos" panose="020B0004020202020204" pitchFamily="34" charset="0"/>
              </a:rPr>
              <a:t>Under</a:t>
            </a:r>
            <a:r>
              <a:rPr lang="pt-PT" sz="4800" b="1" i="1" dirty="0">
                <a:effectLst/>
                <a:ea typeface="Aptos" panose="020B0004020202020204" pitchFamily="34" charset="0"/>
              </a:rPr>
              <a:t> </a:t>
            </a:r>
            <a:r>
              <a:rPr lang="pt-PT" sz="4800" b="1" i="1" dirty="0" err="1">
                <a:effectLst/>
                <a:ea typeface="Aptos" panose="020B0004020202020204" pitchFamily="34" charset="0"/>
              </a:rPr>
              <a:t>Pressure</a:t>
            </a:r>
            <a:r>
              <a:rPr lang="pt-PT" sz="4800" b="1" i="1" dirty="0">
                <a:effectLst/>
                <a:ea typeface="Aptos" panose="020B0004020202020204" pitchFamily="34" charset="0"/>
              </a:rPr>
              <a:t> </a:t>
            </a:r>
            <a:r>
              <a:rPr lang="pt-PT" sz="4800" b="1" i="1" dirty="0" err="1">
                <a:effectLst/>
                <a:ea typeface="Aptos" panose="020B0004020202020204" pitchFamily="34" charset="0"/>
              </a:rPr>
              <a:t>Passing</a:t>
            </a:r>
            <a:r>
              <a:rPr lang="pt-PT" sz="4800" b="1" i="1" dirty="0">
                <a:effectLst/>
                <a:ea typeface="Aptos" panose="020B0004020202020204" pitchFamily="34" charset="0"/>
              </a:rPr>
              <a:t> </a:t>
            </a:r>
            <a:r>
              <a:rPr lang="pt-PT" sz="4800" b="1" i="1" dirty="0" err="1">
                <a:effectLst/>
                <a:ea typeface="Aptos" panose="020B0004020202020204" pitchFamily="34" charset="0"/>
              </a:rPr>
              <a:t>Odds</a:t>
            </a:r>
            <a:r>
              <a:rPr lang="pt-PT" sz="4800" b="1" i="1" dirty="0">
                <a:effectLst/>
                <a:ea typeface="Aptos" panose="020B0004020202020204" pitchFamily="34" charset="0"/>
              </a:rPr>
              <a:t> Ratio</a:t>
            </a:r>
            <a:endParaRPr lang="ko-KR" altLang="en-US" sz="4800" dirty="0"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66F6B-B975-4F3C-BCF2-9971086140FB}"/>
              </a:ext>
            </a:extLst>
          </p:cNvPr>
          <p:cNvSpPr txBox="1"/>
          <p:nvPr/>
        </p:nvSpPr>
        <p:spPr>
          <a:xfrm>
            <a:off x="0" y="6172626"/>
            <a:ext cx="1219185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2000" b="1" dirty="0">
                <a:effectLst/>
                <a:latin typeface="+mj-lt"/>
                <a:ea typeface="Aptos" panose="020B0004020202020204" pitchFamily="34" charset="0"/>
              </a:rPr>
              <a:t>(UPPOR)</a:t>
            </a:r>
            <a:endParaRPr lang="pt-PT" sz="2800" dirty="0">
              <a:latin typeface="+mj-lt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13162AD-172F-4138-A519-DA52C0A0FBCE}"/>
              </a:ext>
            </a:extLst>
          </p:cNvPr>
          <p:cNvSpPr/>
          <p:nvPr/>
        </p:nvSpPr>
        <p:spPr>
          <a:xfrm rot="18900000">
            <a:off x="4404015" y="1122775"/>
            <a:ext cx="3406600" cy="3406600"/>
          </a:xfrm>
          <a:custGeom>
            <a:avLst/>
            <a:gdLst>
              <a:gd name="connsiteX0" fmla="*/ 3406600 w 3406600"/>
              <a:gd name="connsiteY0" fmla="*/ 0 h 3406600"/>
              <a:gd name="connsiteX1" fmla="*/ 3406600 w 3406600"/>
              <a:gd name="connsiteY1" fmla="*/ 3406600 h 3406600"/>
              <a:gd name="connsiteX2" fmla="*/ 2847806 w 3406600"/>
              <a:gd name="connsiteY2" fmla="*/ 3406600 h 3406600"/>
              <a:gd name="connsiteX3" fmla="*/ 2579775 w 3406600"/>
              <a:gd name="connsiteY3" fmla="*/ 3138569 h 3406600"/>
              <a:gd name="connsiteX4" fmla="*/ 3138569 w 3406600"/>
              <a:gd name="connsiteY4" fmla="*/ 3138569 h 3406600"/>
              <a:gd name="connsiteX5" fmla="*/ 3138569 w 3406600"/>
              <a:gd name="connsiteY5" fmla="*/ 268031 h 3406600"/>
              <a:gd name="connsiteX6" fmla="*/ 268031 w 3406600"/>
              <a:gd name="connsiteY6" fmla="*/ 268031 h 3406600"/>
              <a:gd name="connsiteX7" fmla="*/ 268031 w 3406600"/>
              <a:gd name="connsiteY7" fmla="*/ 826825 h 3406600"/>
              <a:gd name="connsiteX8" fmla="*/ 0 w 3406600"/>
              <a:gd name="connsiteY8" fmla="*/ 558794 h 3406600"/>
              <a:gd name="connsiteX9" fmla="*/ 0 w 3406600"/>
              <a:gd name="connsiteY9" fmla="*/ 0 h 34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6600" h="3406600">
                <a:moveTo>
                  <a:pt x="3406600" y="0"/>
                </a:moveTo>
                <a:lnTo>
                  <a:pt x="3406600" y="3406600"/>
                </a:lnTo>
                <a:lnTo>
                  <a:pt x="2847806" y="3406600"/>
                </a:lnTo>
                <a:lnTo>
                  <a:pt x="2579775" y="3138569"/>
                </a:lnTo>
                <a:lnTo>
                  <a:pt x="3138569" y="3138569"/>
                </a:lnTo>
                <a:lnTo>
                  <a:pt x="3138569" y="268031"/>
                </a:lnTo>
                <a:lnTo>
                  <a:pt x="268031" y="268031"/>
                </a:lnTo>
                <a:lnTo>
                  <a:pt x="268031" y="826825"/>
                </a:lnTo>
                <a:lnTo>
                  <a:pt x="0" y="55879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90B31-AB43-4AA5-B82E-CE89035CD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007" y="1318630"/>
            <a:ext cx="4068618" cy="3271672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F2BC4A5-D679-499B-9BE3-4F177893EE9D}"/>
              </a:ext>
            </a:extLst>
          </p:cNvPr>
          <p:cNvSpPr/>
          <p:nvPr/>
        </p:nvSpPr>
        <p:spPr>
          <a:xfrm rot="18900000">
            <a:off x="4527513" y="1414440"/>
            <a:ext cx="3160893" cy="3160893"/>
          </a:xfrm>
          <a:custGeom>
            <a:avLst/>
            <a:gdLst>
              <a:gd name="connsiteX0" fmla="*/ 0 w 3160893"/>
              <a:gd name="connsiteY0" fmla="*/ 0 h 3160893"/>
              <a:gd name="connsiteX1" fmla="*/ 268031 w 3160893"/>
              <a:gd name="connsiteY1" fmla="*/ 268031 h 3160893"/>
              <a:gd name="connsiteX2" fmla="*/ 268031 w 3160893"/>
              <a:gd name="connsiteY2" fmla="*/ 2892862 h 3160893"/>
              <a:gd name="connsiteX3" fmla="*/ 2892862 w 3160893"/>
              <a:gd name="connsiteY3" fmla="*/ 2892862 h 3160893"/>
              <a:gd name="connsiteX4" fmla="*/ 3160893 w 3160893"/>
              <a:gd name="connsiteY4" fmla="*/ 3160893 h 3160893"/>
              <a:gd name="connsiteX5" fmla="*/ 0 w 3160893"/>
              <a:gd name="connsiteY5" fmla="*/ 3160893 h 3160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893" h="3160893">
                <a:moveTo>
                  <a:pt x="0" y="0"/>
                </a:moveTo>
                <a:lnTo>
                  <a:pt x="268031" y="268031"/>
                </a:lnTo>
                <a:lnTo>
                  <a:pt x="268031" y="2892862"/>
                </a:lnTo>
                <a:lnTo>
                  <a:pt x="2892862" y="2892862"/>
                </a:lnTo>
                <a:lnTo>
                  <a:pt x="3160893" y="3160893"/>
                </a:lnTo>
                <a:lnTo>
                  <a:pt x="0" y="316089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4F1A0B-D4E5-4ABE-AFCC-3BC60836D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48" y="4462463"/>
            <a:ext cx="768633" cy="7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8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10B906B-829E-482E-AAC3-90960784CA3A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12136" y="1773314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69536" y="280449"/>
            <a:ext cx="902621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Objetivo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 da </a:t>
            </a:r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métrica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: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15FFB1-1D6C-42EA-BB06-BCBCEADD9E8B}"/>
              </a:ext>
            </a:extLst>
          </p:cNvPr>
          <p:cNvSpPr txBox="1"/>
          <p:nvPr/>
        </p:nvSpPr>
        <p:spPr>
          <a:xfrm>
            <a:off x="3916680" y="4131512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55AE00-2B02-4050-8FD4-E1F0B1FB97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7F15042C-04F7-30C6-DEF9-BDF3362B7754}"/>
              </a:ext>
            </a:extLst>
          </p:cNvPr>
          <p:cNvSpPr txBox="1"/>
          <p:nvPr/>
        </p:nvSpPr>
        <p:spPr>
          <a:xfrm>
            <a:off x="4683097" y="1773314"/>
            <a:ext cx="5872609" cy="120032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just"/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medir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a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associação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entre passes de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média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/longa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distância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e a 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pressão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exercida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pela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equipa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adversária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;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F41452B-2B27-36EB-4C22-676CCB2EFDA5}"/>
              </a:ext>
            </a:extLst>
          </p:cNvPr>
          <p:cNvSpPr txBox="1"/>
          <p:nvPr/>
        </p:nvSpPr>
        <p:spPr>
          <a:xfrm>
            <a:off x="4691119" y="4155564"/>
            <a:ext cx="5872609" cy="156966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just"/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ter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uma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medida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da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relação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existente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entre o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número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de passes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não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curtos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e o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número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de passes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curtos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quando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realizados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em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pressão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ou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não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10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E1ACF-3804-0D3B-889D-12263456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3FE15EE-B115-BC00-0541-5AE7F3A21491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1863E-2415-C32F-4869-4DF35518D49A}"/>
              </a:ext>
            </a:extLst>
          </p:cNvPr>
          <p:cNvSpPr txBox="1"/>
          <p:nvPr/>
        </p:nvSpPr>
        <p:spPr>
          <a:xfrm>
            <a:off x="3069536" y="280449"/>
            <a:ext cx="902621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Fórmula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 de </a:t>
            </a:r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cálculo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: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B033EF-209D-C32C-86F9-F733D593D1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9B43C55-F396-818A-7124-71C60C08C0B1}"/>
                  </a:ext>
                </a:extLst>
              </p:cNvPr>
              <p:cNvSpPr txBox="1"/>
              <p:nvPr/>
            </p:nvSpPr>
            <p:spPr>
              <a:xfrm>
                <a:off x="3069535" y="2302592"/>
                <a:ext cx="9122463" cy="3350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2400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UPPOR</m:t>
                    </m:r>
                    <m:r>
                      <a:rPr lang="pt-PT" sz="24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𝑂𝑑</m:t>
                        </m:r>
                        <m:sSub>
                          <m:sSubPr>
                            <m:ctrlP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𝑝𝑟𝑒𝑠𝑠𝑖𝑜𝑛𝑎𝑑𝑜</m:t>
                            </m:r>
                          </m:sub>
                        </m:sSub>
                      </m:num>
                      <m:den>
                        <m: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𝑂𝑑</m:t>
                        </m:r>
                        <m:sSub>
                          <m:sSubPr>
                            <m:ctrlP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ã</m:t>
                            </m:r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𝑜</m:t>
                            </m:r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pt-PT" sz="24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𝑝𝑟𝑒𝑠𝑠𝑖𝑜𝑛𝑎𝑑𝑜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pt-PT" sz="24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pt-PT" sz="24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onde</a:t>
                </a:r>
                <a:r>
                  <a:rPr lang="pt-PT" sz="24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pt-PT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tabLst>
                    <a:tab pos="270510" algn="l"/>
                  </a:tabLst>
                </a:pPr>
                <a14:m>
                  <m:oMath xmlns:m="http://schemas.openxmlformats.org/officeDocument/2006/math">
                    <m:r>
                      <a:rPr lang="pt-PT" sz="24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𝑂𝑑</m:t>
                    </m:r>
                    <m:sSub>
                      <m:sSubPr>
                        <m:ctrlP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𝑝𝑟𝑒𝑠𝑠𝑖𝑜𝑛𝑎𝑑𝑜</m:t>
                        </m:r>
                      </m:sub>
                    </m:sSub>
                    <m:r>
                      <a:rPr lang="pt-PT" sz="24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pt-PT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ú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mero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de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passes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curtos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quando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pressionado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ú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mero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de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passes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curtos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quando</m:t>
                        </m:r>
                        <m: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pressionado</m:t>
                        </m:r>
                      </m:den>
                    </m:f>
                  </m:oMath>
                </a14:m>
                <a:r>
                  <a:rPr lang="pt-PT" sz="24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tabLst>
                    <a:tab pos="270510" algn="l"/>
                  </a:tabLst>
                </a:pPr>
                <a:r>
                  <a:rPr lang="pt-PT" sz="24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pt-PT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pt-PT" sz="2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𝑂𝑑</m:t>
                    </m:r>
                    <m:sSub>
                      <m:sSubPr>
                        <m:ctrlPr>
                          <a:rPr lang="pt-PT" sz="24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PT" sz="24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pt-PT" sz="24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𝑝𝑟𝑒𝑠𝑠𝑖𝑜𝑛𝑎𝑑𝑜</m:t>
                        </m:r>
                      </m:sub>
                    </m:sSub>
                    <m:r>
                      <a:rPr lang="pt-PT" sz="2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pt-PT" sz="24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ú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mero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de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passes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curtos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quando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pressionado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ú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mero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de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passes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curtos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quando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n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PT" sz="24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pressionado</m:t>
                        </m:r>
                      </m:den>
                    </m:f>
                  </m:oMath>
                </a14:m>
                <a:r>
                  <a:rPr lang="pt-PT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9B43C55-F396-818A-7124-71C60C08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35" y="2302592"/>
                <a:ext cx="9122463" cy="3350276"/>
              </a:xfrm>
              <a:prstGeom prst="rect">
                <a:avLst/>
              </a:prstGeom>
              <a:blipFill>
                <a:blip r:embed="rId3"/>
                <a:stretch>
                  <a:fillRect l="-107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82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3D32-773D-407B-9C7B-56D9F5F7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F576DFF-C1D5-DD65-510F-58B749F3461B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96530-BDE0-1F4C-2547-4F1D15B5E8B3}"/>
              </a:ext>
            </a:extLst>
          </p:cNvPr>
          <p:cNvSpPr txBox="1"/>
          <p:nvPr/>
        </p:nvSpPr>
        <p:spPr>
          <a:xfrm>
            <a:off x="3069536" y="280449"/>
            <a:ext cx="902621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Interpretação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: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4429FB-3772-8106-C40E-2A7F102CB5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F20842C-F9A6-8F2F-050D-E023C9681516}"/>
                  </a:ext>
                </a:extLst>
              </p:cNvPr>
              <p:cNvSpPr txBox="1"/>
              <p:nvPr/>
            </p:nvSpPr>
            <p:spPr>
              <a:xfrm>
                <a:off x="3069535" y="1885500"/>
                <a:ext cx="7646591" cy="4948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buFont typeface="Symbol" panose="05050102010706020507" pitchFamily="18" charset="2"/>
                  <a:buChar char=""/>
                </a:pPr>
                <a:r>
                  <a:rPr lang="pt-PT" sz="2400" kern="100" dirty="0">
                    <a:solidFill>
                      <a:schemeClr val="bg1"/>
                    </a:solidFill>
                    <a:effectLst/>
                    <a:ea typeface="Aptos" panose="020B0004020202020204" pitchFamily="34" charset="0"/>
                    <a:cs typeface="Calibri" panose="020F0502020204030204" pitchFamily="34" charset="0"/>
                  </a:rPr>
                  <a:t>Se </a:t>
                </a:r>
                <a14:m>
                  <m:oMath xmlns:m="http://schemas.openxmlformats.org/officeDocument/2006/math">
                    <m:r>
                      <a:rPr lang="pt-PT" sz="24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𝑈𝑃𝑃𝑂𝑅</m:t>
                    </m:r>
                    <m:r>
                      <a:rPr lang="pt-PT" sz="24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&gt;1</m:t>
                    </m:r>
                  </m:oMath>
                </a14:m>
                <a:r>
                  <a:rPr lang="pt-PT" sz="2400" kern="100" dirty="0">
                    <a:solidFill>
                      <a:schemeClr val="bg1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 equipa está a apostar mais em passes não curtos relativamente a curtos, quando pressionada;</a:t>
                </a:r>
              </a:p>
              <a:p>
                <a:pPr lvl="0" algn="just">
                  <a:lnSpc>
                    <a:spcPct val="115000"/>
                  </a:lnSpc>
                </a:pPr>
                <a:endParaRPr lang="pt-PT" sz="2400" kern="100" dirty="0">
                  <a:solidFill>
                    <a:schemeClr val="bg1"/>
                  </a:solidFill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15000"/>
                  </a:lnSpc>
                </a:pPr>
                <a:endParaRPr lang="pt-PT" sz="2400" kern="100" dirty="0">
                  <a:solidFill>
                    <a:schemeClr val="bg1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pt-PT" sz="2400" kern="100" dirty="0">
                    <a:solidFill>
                      <a:schemeClr val="bg1"/>
                    </a:solidFill>
                    <a:effectLst/>
                    <a:ea typeface="Aptos" panose="020B0004020202020204" pitchFamily="34" charset="0"/>
                    <a:cs typeface="Calibri" panose="020F0502020204030204" pitchFamily="34" charset="0"/>
                  </a:rPr>
                  <a:t>Se </a:t>
                </a:r>
                <a14:m>
                  <m:oMath xmlns:m="http://schemas.openxmlformats.org/officeDocument/2006/math">
                    <m:r>
                      <a:rPr lang="pt-PT" sz="24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𝑈𝑃𝑃𝑂𝑅</m:t>
                    </m:r>
                    <m:r>
                      <a:rPr lang="pt-PT" sz="24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pt-PT" sz="2400" kern="100" dirty="0">
                    <a:solidFill>
                      <a:schemeClr val="bg1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 equipa está a apostar mais em passes curtos relativamente a não curtos, quando pressionada;</a:t>
                </a:r>
              </a:p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endParaRPr lang="pt-PT" sz="2400" kern="100" dirty="0"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pt-PT" sz="2400" dirty="0">
                    <a:solidFill>
                      <a:schemeClr val="bg1"/>
                    </a:solidFill>
                    <a:effectLst/>
                    <a:ea typeface="Aptos" panose="020B0004020202020204" pitchFamily="34" charset="0"/>
                    <a:cs typeface="Calibri" panose="020F0502020204030204" pitchFamily="34" charset="0"/>
                  </a:rPr>
                  <a:t>Se </a:t>
                </a:r>
                <a14:m>
                  <m:oMath xmlns:m="http://schemas.openxmlformats.org/officeDocument/2006/math">
                    <m:r>
                      <a:rPr lang="pt-PT" sz="2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𝑈𝑃𝑃𝑂𝑅</m:t>
                    </m:r>
                    <m:r>
                      <a:rPr lang="pt-PT" sz="2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pt-PT" sz="2400" dirty="0">
                    <a:solidFill>
                      <a:schemeClr val="bg1"/>
                    </a:solidFill>
                    <a:effectLst/>
                    <a:ea typeface="Times New Roman" panose="02020603050405020304" pitchFamily="18" charset="0"/>
                  </a:rPr>
                  <a:t>, não está a haver alteração no padrão de passe, relativamente ao seu comprimento.</a:t>
                </a:r>
                <a:endParaRPr lang="pt-PT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F20842C-F9A6-8F2F-050D-E023C9681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35" y="1885500"/>
                <a:ext cx="7646591" cy="4948599"/>
              </a:xfrm>
              <a:prstGeom prst="rect">
                <a:avLst/>
              </a:prstGeom>
              <a:blipFill>
                <a:blip r:embed="rId3"/>
                <a:stretch>
                  <a:fillRect l="-1276" t="-739" r="-1196" b="-184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3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40">
            <a:extLst>
              <a:ext uri="{FF2B5EF4-FFF2-40B4-BE49-F238E27FC236}">
                <a16:creationId xmlns:a16="http://schemas.microsoft.com/office/drawing/2014/main" id="{10051778-9F02-17AA-1109-2632EF4BCEE0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Imagem 3" descr="Uma imagem com diagrama, file, texto, design&#10;&#10;Descrição gerada automaticamente">
            <a:extLst>
              <a:ext uri="{FF2B5EF4-FFF2-40B4-BE49-F238E27FC236}">
                <a16:creationId xmlns:a16="http://schemas.microsoft.com/office/drawing/2014/main" id="{488EEE91-2153-4E01-581B-46F68D158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196" y="3181858"/>
            <a:ext cx="4314513" cy="238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265AEE7-71EC-8D97-9353-DDF9F7452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22959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C645434-464A-6FE9-9734-4051B2C21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43343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A70E56-C19A-F742-3C8A-18E70329A3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72AD5688-40D4-85B2-B1BB-B6FFDD8F8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753294"/>
              </p:ext>
            </p:extLst>
          </p:nvPr>
        </p:nvGraphicFramePr>
        <p:xfrm>
          <a:off x="2032000" y="169640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25474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0376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3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médio/longos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Não 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12777"/>
                  </a:ext>
                </a:extLst>
              </a:tr>
            </a:tbl>
          </a:graphicData>
        </a:graphic>
      </p:graphicFrame>
      <p:pic>
        <p:nvPicPr>
          <p:cNvPr id="1025" name="Imagem 2" descr="Uma imagem com diagrama, texto, file, design&#10;&#10;Descrição gerada automaticamente">
            <a:extLst>
              <a:ext uri="{FF2B5EF4-FFF2-40B4-BE49-F238E27FC236}">
                <a16:creationId xmlns:a16="http://schemas.microsoft.com/office/drawing/2014/main" id="{6C77245B-3DFA-60BA-2F0F-4E9D14E8D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016" y="3194327"/>
            <a:ext cx="3821961" cy="237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FDADB7F2-FF71-30D9-CA95-10F802E0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0159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Exemplo 1:</a:t>
            </a:r>
            <a:b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Meias-finais do EURO2024 – Países Baixos </a:t>
            </a:r>
            <a:r>
              <a:rPr lang="pt-PT" sz="3200" b="1" dirty="0" err="1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vs</a:t>
            </a:r>
            <a: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 Inglaterra</a:t>
            </a:r>
            <a:endParaRPr lang="pt-PT" sz="6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18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551B-A7CB-6EF5-DC03-93095A81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40">
            <a:extLst>
              <a:ext uri="{FF2B5EF4-FFF2-40B4-BE49-F238E27FC236}">
                <a16:creationId xmlns:a16="http://schemas.microsoft.com/office/drawing/2014/main" id="{E414BCBC-D0B2-62D4-91D9-E58913E92607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654301A-BD2F-2E98-51F9-53FB0137D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22959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73F3D24-A783-5480-E77A-4329BCEAF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43343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3" name="Imagem 5" descr="Uma imagem com diagrama, texto, mapa&#10;&#10;Descrição gerada automaticamente">
            <a:extLst>
              <a:ext uri="{FF2B5EF4-FFF2-40B4-BE49-F238E27FC236}">
                <a16:creationId xmlns:a16="http://schemas.microsoft.com/office/drawing/2014/main" id="{04ABD202-CCB5-3D1E-AAAA-E85722E3B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412" y="3203516"/>
            <a:ext cx="4314513" cy="238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93D1ABE-B301-DD84-A524-F8D7B3DE10A6}"/>
              </a:ext>
            </a:extLst>
          </p:cNvPr>
          <p:cNvSpPr txBox="1"/>
          <p:nvPr/>
        </p:nvSpPr>
        <p:spPr>
          <a:xfrm>
            <a:off x="3400926" y="5857143"/>
            <a:ext cx="9095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Nos gráficos acima, vermelho significa ter sido realizado sob pressão e verde significa não ter sido realizado sob pressão.</a:t>
            </a:r>
            <a:endParaRPr kumimoji="0" lang="pt-PT" altLang="pt-PT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648EC74F-0035-AC5E-1214-3D7797A3A3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A822792-5DED-1C72-2D3B-5C3724C8F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88282"/>
              </p:ext>
            </p:extLst>
          </p:nvPr>
        </p:nvGraphicFramePr>
        <p:xfrm>
          <a:off x="2032000" y="169640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25474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0376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3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médio/longos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Não 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12777"/>
                  </a:ext>
                </a:extLst>
              </a:tr>
            </a:tbl>
          </a:graphicData>
        </a:graphic>
      </p:graphicFrame>
      <p:pic>
        <p:nvPicPr>
          <p:cNvPr id="4" name="Imagem 4" descr="Uma imagem com diagrama, file, origami&#10;&#10;Descrição gerada automaticamente">
            <a:extLst>
              <a:ext uri="{FF2B5EF4-FFF2-40B4-BE49-F238E27FC236}">
                <a16:creationId xmlns:a16="http://schemas.microsoft.com/office/drawing/2014/main" id="{09845CB1-9210-B104-B229-0357C9BB6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355" y="3215985"/>
            <a:ext cx="3821961" cy="237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AFD9CFF4-938E-00CC-11B4-FB39B352F975}"/>
              </a:ext>
            </a:extLst>
          </p:cNvPr>
          <p:cNvSpPr txBox="1">
            <a:spLocks/>
          </p:cNvSpPr>
          <p:nvPr/>
        </p:nvSpPr>
        <p:spPr>
          <a:xfrm>
            <a:off x="0" y="365125"/>
            <a:ext cx="101599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  <a:t>Exemplo 1:</a:t>
            </a:r>
            <a:b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</a:br>
            <a: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  <a:t>Meias-finais do EURO2024 – Países Baixos </a:t>
            </a:r>
            <a:r>
              <a:rPr lang="pt-PT" sz="2900" b="1" dirty="0" err="1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  <a:t>vs</a:t>
            </a:r>
            <a: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  <a:t> Inglaterra</a:t>
            </a:r>
            <a:endParaRPr lang="pt-PT" sz="29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264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B2E3-8F50-5C5F-6E6B-C371A123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40">
            <a:extLst>
              <a:ext uri="{FF2B5EF4-FFF2-40B4-BE49-F238E27FC236}">
                <a16:creationId xmlns:a16="http://schemas.microsoft.com/office/drawing/2014/main" id="{FEBBF567-3607-702E-5BE2-9A7C15093463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2457C6-C1B9-5D31-971B-6F4C9F5CB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22959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0C3FE11-7F77-B971-211F-18348F36E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43343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AC57C37-D058-7883-3B28-8BAD449A5597}"/>
                  </a:ext>
                </a:extLst>
              </p:cNvPr>
              <p:cNvSpPr txBox="1"/>
              <p:nvPr/>
            </p:nvSpPr>
            <p:spPr>
              <a:xfrm>
                <a:off x="2622884" y="3186598"/>
                <a:ext cx="69462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pt-PT" sz="20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PPOR</m:t>
                      </m:r>
                      <m:r>
                        <a:rPr lang="pt-PT" sz="20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≈1,58</m:t>
                      </m:r>
                    </m:oMath>
                  </m:oMathPara>
                </a14:m>
                <a:endParaRPr lang="pt-PT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AC57C37-D058-7883-3B28-8BAD449A5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84" y="3186598"/>
                <a:ext cx="694623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3B5B821-4A18-0768-9700-F7617B1EF7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6C2DB84-A3DC-D0B3-D4C7-E5F62806166F}"/>
              </a:ext>
            </a:extLst>
          </p:cNvPr>
          <p:cNvSpPr txBox="1"/>
          <p:nvPr/>
        </p:nvSpPr>
        <p:spPr>
          <a:xfrm>
            <a:off x="3015916" y="3762700"/>
            <a:ext cx="906946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Em pressão, os Países Baixos fazem 1,58 vezes mais passes médio/longos relativamente a passes curtos;</a:t>
            </a:r>
          </a:p>
          <a:p>
            <a:pPr algn="just"/>
            <a:endParaRPr lang="pt-PT" sz="2400" dirty="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Os Países Baixos mostraram, nesta partida, uma tendência a alterar o seu estilo de jogo apostando mais, quando pressionados, nos passes </a:t>
            </a:r>
            <a:r>
              <a:rPr lang="pt-PT" sz="2400" dirty="0">
                <a:solidFill>
                  <a:schemeClr val="bg1"/>
                </a:solidFill>
                <a:ea typeface="Aptos" panose="020B0004020202020204" pitchFamily="34" charset="0"/>
              </a:rPr>
              <a:t>n</a:t>
            </a:r>
            <a:r>
              <a:rPr lang="pt-PT" sz="24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ão curtos.</a:t>
            </a:r>
            <a:endParaRPr lang="pt-PT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400" dirty="0"/>
          </a:p>
          <a:p>
            <a:r>
              <a:rPr lang="pt-PT" dirty="0"/>
              <a:t> 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466AE0E-A84F-7C6F-1154-DEB137F78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72880"/>
              </p:ext>
            </p:extLst>
          </p:nvPr>
        </p:nvGraphicFramePr>
        <p:xfrm>
          <a:off x="2032000" y="169640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25474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0376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3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médio/longos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Não 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12777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43CFF3D-02B8-ECEF-2ECC-153913F3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0159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Exemplo 1:</a:t>
            </a:r>
            <a:b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Meias-finais do EURO2024 – Países Baixos </a:t>
            </a:r>
            <a:r>
              <a:rPr lang="pt-PT" sz="3200" b="1" dirty="0" err="1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vs</a:t>
            </a:r>
            <a:r>
              <a:rPr lang="pt-PT" sz="32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 Inglaterra</a:t>
            </a:r>
            <a:endParaRPr lang="pt-PT" sz="6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029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AF0F-B04C-53D9-2C38-BCF320C0D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2C82A8FC-7C0A-E7F6-71C9-3191F54CAD53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8BF1A5-EBF2-3FCD-EF26-58DA84D9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22959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F6D76895-9EAE-2CAD-827D-C20144CF17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-16041"/>
            <a:ext cx="3165788" cy="6840432"/>
          </a:xfrm>
          <a:prstGeom prst="rect">
            <a:avLst/>
          </a:prstGeom>
        </p:spPr>
      </p:pic>
      <p:pic>
        <p:nvPicPr>
          <p:cNvPr id="4" name="Imagem 3" descr="Uma imagem com texto, diagrama, design&#10;&#10;Descrição gerada automaticamente">
            <a:extLst>
              <a:ext uri="{FF2B5EF4-FFF2-40B4-BE49-F238E27FC236}">
                <a16:creationId xmlns:a16="http://schemas.microsoft.com/office/drawing/2014/main" id="{14F967D5-492D-4CD2-08D7-703F380056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106" y="3198175"/>
            <a:ext cx="3977832" cy="23879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50FB392-8CAA-F4D3-CC2D-1F2C4DEC6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062"/>
              </p:ext>
            </p:extLst>
          </p:nvPr>
        </p:nvGraphicFramePr>
        <p:xfrm>
          <a:off x="2032000" y="169640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25474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0376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3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médio/longos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Não 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12777"/>
                  </a:ext>
                </a:extLst>
              </a:tr>
            </a:tbl>
          </a:graphicData>
        </a:graphic>
      </p:graphicFrame>
      <p:pic>
        <p:nvPicPr>
          <p:cNvPr id="3" name="Imagem 2" descr="Uma imagem com texto, diagrama, Tipo de letra, file&#10;&#10;Descrição gerada automaticamente">
            <a:extLst>
              <a:ext uri="{FF2B5EF4-FFF2-40B4-BE49-F238E27FC236}">
                <a16:creationId xmlns:a16="http://schemas.microsoft.com/office/drawing/2014/main" id="{E958B5DB-22C2-86FA-D441-52AE4D6EFE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652" y="3204410"/>
            <a:ext cx="3491514" cy="23817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9EC799-6C27-B6D0-ED5B-FA8EF15C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pPr algn="ctr"/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Exemplo </a:t>
            </a:r>
            <a: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  <a:t>2:</a:t>
            </a:r>
            <a:b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</a:br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Final do EURO2024 – Espanha </a:t>
            </a:r>
            <a:r>
              <a:rPr lang="pt-PT" sz="2900" b="1" dirty="0" err="1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vs</a:t>
            </a:r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 Inglaterra</a:t>
            </a:r>
            <a:endParaRPr lang="pt-PT" sz="29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949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B2FF-AC52-6E9C-3FE1-BFAC7892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40">
            <a:extLst>
              <a:ext uri="{FF2B5EF4-FFF2-40B4-BE49-F238E27FC236}">
                <a16:creationId xmlns:a16="http://schemas.microsoft.com/office/drawing/2014/main" id="{7FF1D60C-0338-16DD-816F-14DF6F002292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CC8344C-01CE-DBB5-1541-CC12C369B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22959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FC0F252-8EC6-8552-97AB-447D542E1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43343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EB1EEC-D4C3-8094-8524-895A966F3146}"/>
              </a:ext>
            </a:extLst>
          </p:cNvPr>
          <p:cNvSpPr txBox="1"/>
          <p:nvPr/>
        </p:nvSpPr>
        <p:spPr>
          <a:xfrm>
            <a:off x="3433011" y="5857143"/>
            <a:ext cx="9063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Nos gráficos acima, vermelho significa ter sido realizado sob pressão e verde significa não ter sido realizado sob pressão.</a:t>
            </a:r>
            <a:endParaRPr kumimoji="0" lang="pt-PT" altLang="pt-PT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1AAA58D5-D5A2-47A9-0D05-4F95B5BD47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pic>
        <p:nvPicPr>
          <p:cNvPr id="9" name="Imagem 8" descr="Uma imagem com diagrama, texto&#10;&#10;Descrição gerada automaticamente">
            <a:extLst>
              <a:ext uri="{FF2B5EF4-FFF2-40B4-BE49-F238E27FC236}">
                <a16:creationId xmlns:a16="http://schemas.microsoft.com/office/drawing/2014/main" id="{7319FFB2-84EA-00FE-9E05-4913B90E35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554" y="3108066"/>
            <a:ext cx="3977832" cy="23879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09AA7F0-DBFB-0DED-32B3-669E0DC6E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247603"/>
              </p:ext>
            </p:extLst>
          </p:nvPr>
        </p:nvGraphicFramePr>
        <p:xfrm>
          <a:off x="2032000" y="1696403"/>
          <a:ext cx="8127999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25474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0376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3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médio/longos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Não 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12777"/>
                  </a:ext>
                </a:extLst>
              </a:tr>
            </a:tbl>
          </a:graphicData>
        </a:graphic>
      </p:graphicFrame>
      <p:pic>
        <p:nvPicPr>
          <p:cNvPr id="6" name="Imagem 5" descr="Uma imagem com diagrama, texto, origami, file&#10;&#10;Descrição gerada automaticamente">
            <a:extLst>
              <a:ext uri="{FF2B5EF4-FFF2-40B4-BE49-F238E27FC236}">
                <a16:creationId xmlns:a16="http://schemas.microsoft.com/office/drawing/2014/main" id="{E9594C6F-8CB4-31D2-EAB8-F86957F315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565" y="3114301"/>
            <a:ext cx="3491514" cy="23817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507217C-460B-AFD9-4293-DBECA741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pPr algn="ctr"/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Exemplo 2:</a:t>
            </a:r>
            <a:b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Final do EURO2024 – Espanha </a:t>
            </a:r>
            <a:r>
              <a:rPr lang="pt-PT" sz="2900" b="1" dirty="0" err="1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vs</a:t>
            </a:r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 Inglaterra</a:t>
            </a:r>
            <a:endParaRPr lang="pt-PT" sz="29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596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B203-005E-C9D5-2CB4-D90E79CED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40">
            <a:extLst>
              <a:ext uri="{FF2B5EF4-FFF2-40B4-BE49-F238E27FC236}">
                <a16:creationId xmlns:a16="http://schemas.microsoft.com/office/drawing/2014/main" id="{C9A7F56C-562F-8FD8-855A-79D4EE81C5CB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2954781-60D9-7752-4137-A2012A9E0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22959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131A8EC-6DB2-03AF-65CF-5D2E18BE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65" y="43343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671D71A-1E8E-4B92-44D6-530036C35B69}"/>
                  </a:ext>
                </a:extLst>
              </p:cNvPr>
              <p:cNvSpPr txBox="1"/>
              <p:nvPr/>
            </p:nvSpPr>
            <p:spPr>
              <a:xfrm>
                <a:off x="2622884" y="3186598"/>
                <a:ext cx="69462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pt-PT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PPOR</m:t>
                      </m:r>
                      <m:r>
                        <a:rPr lang="pt-PT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≈0,5</m:t>
                      </m:r>
                    </m:oMath>
                  </m:oMathPara>
                </a14:m>
                <a:endParaRPr lang="pt-PT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671D71A-1E8E-4B92-44D6-530036C35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84" y="3186598"/>
                <a:ext cx="69462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1">
            <a:extLst>
              <a:ext uri="{FF2B5EF4-FFF2-40B4-BE49-F238E27FC236}">
                <a16:creationId xmlns:a16="http://schemas.microsoft.com/office/drawing/2014/main" id="{4F672C45-71C2-5A42-C90F-1DBD4B64EB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D40D9BD-8A9C-C710-A448-FF76FDB9C2D8}"/>
              </a:ext>
            </a:extLst>
          </p:cNvPr>
          <p:cNvSpPr txBox="1"/>
          <p:nvPr/>
        </p:nvSpPr>
        <p:spPr>
          <a:xfrm>
            <a:off x="2999874" y="3762700"/>
            <a:ext cx="89675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Em pressão, Espanha fez 2 vezes mais passes curtos relativamente a passes  médio/longos;</a:t>
            </a:r>
          </a:p>
          <a:p>
            <a:pPr algn="just"/>
            <a:endParaRPr lang="pt-PT" sz="2400" dirty="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Espanha mostrou, nesta partida, uma tendência a apostar no seu estilo de jogo, apesar de pressionados.</a:t>
            </a:r>
            <a:endParaRPr lang="pt-PT" sz="2400" dirty="0">
              <a:solidFill>
                <a:schemeClr val="bg1"/>
              </a:solidFill>
            </a:endParaRPr>
          </a:p>
          <a:p>
            <a:r>
              <a:rPr lang="pt-PT" sz="2400" dirty="0"/>
              <a:t> 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D1F79640-DB98-CFE4-8D8C-5978156A7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00625"/>
              </p:ext>
            </p:extLst>
          </p:nvPr>
        </p:nvGraphicFramePr>
        <p:xfrm>
          <a:off x="2032000" y="169640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25474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03764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3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médio/longos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Passes 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Não pressionado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12777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C427C328-29EC-D9AC-10E1-43293499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pPr algn="ctr"/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Exemplo </a:t>
            </a:r>
            <a: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  <a:t>2:</a:t>
            </a:r>
            <a:br>
              <a:rPr lang="pt-PT" sz="2900" b="1" dirty="0">
                <a:solidFill>
                  <a:schemeClr val="bg1"/>
                </a:solidFill>
                <a:latin typeface="+mn-lt"/>
                <a:ea typeface="Aptos" panose="020B0004020202020204" pitchFamily="34" charset="0"/>
              </a:rPr>
            </a:br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Final do EURO2024 – Espanha </a:t>
            </a:r>
            <a:r>
              <a:rPr lang="pt-PT" sz="2900" b="1" dirty="0" err="1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vs</a:t>
            </a:r>
            <a:r>
              <a:rPr lang="pt-PT" sz="2900" b="1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</a:rPr>
              <a:t> Inglaterra</a:t>
            </a:r>
            <a:endParaRPr lang="pt-PT" sz="29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09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0">
            <a:extLst>
              <a:ext uri="{FF2B5EF4-FFF2-40B4-BE49-F238E27FC236}">
                <a16:creationId xmlns:a16="http://schemas.microsoft.com/office/drawing/2014/main" id="{BD89B099-0815-6E2B-1CD0-7EBF1F47B394}"/>
              </a:ext>
            </a:extLst>
          </p:cNvPr>
          <p:cNvSpPr/>
          <p:nvPr/>
        </p:nvSpPr>
        <p:spPr>
          <a:xfrm rot="18889717" flipH="1">
            <a:off x="1941525" y="-3313450"/>
            <a:ext cx="8308950" cy="13481604"/>
          </a:xfrm>
          <a:custGeom>
            <a:avLst/>
            <a:gdLst>
              <a:gd name="connsiteX0" fmla="*/ 0 w 8308950"/>
              <a:gd name="connsiteY0" fmla="*/ 6029591 h 13481604"/>
              <a:gd name="connsiteX1" fmla="*/ 0 w 8308950"/>
              <a:gd name="connsiteY1" fmla="*/ 11232870 h 13481604"/>
              <a:gd name="connsiteX2" fmla="*/ 2262228 w 8308950"/>
              <a:gd name="connsiteY2" fmla="*/ 13481604 h 13481604"/>
              <a:gd name="connsiteX3" fmla="*/ 8308950 w 8308950"/>
              <a:gd name="connsiteY3" fmla="*/ 7398600 h 13481604"/>
              <a:gd name="connsiteX4" fmla="*/ 8308950 w 8308950"/>
              <a:gd name="connsiteY4" fmla="*/ 2301513 h 13481604"/>
              <a:gd name="connsiteX5" fmla="*/ 5993628 w 8308950"/>
              <a:gd name="connsiteY5" fmla="*/ 0 h 13481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08950" h="13481604">
                <a:moveTo>
                  <a:pt x="0" y="6029591"/>
                </a:moveTo>
                <a:lnTo>
                  <a:pt x="0" y="11232870"/>
                </a:lnTo>
                <a:lnTo>
                  <a:pt x="2262228" y="13481604"/>
                </a:lnTo>
                <a:lnTo>
                  <a:pt x="8308950" y="7398600"/>
                </a:lnTo>
                <a:lnTo>
                  <a:pt x="8308950" y="2301513"/>
                </a:lnTo>
                <a:lnTo>
                  <a:pt x="599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27FC6062-FD8F-4AF1-5D3C-0A13438C39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2" t="29486" r="16132" b="2232"/>
          <a:stretch/>
        </p:blipFill>
        <p:spPr>
          <a:xfrm>
            <a:off x="0" y="1"/>
            <a:ext cx="3165788" cy="6840432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7F692E1-5B9D-B8FF-9408-43DCA253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7421" y="1857709"/>
            <a:ext cx="9364579" cy="4351338"/>
          </a:xfrm>
        </p:spPr>
        <p:txBody>
          <a:bodyPr/>
          <a:lstStyle/>
          <a:p>
            <a:r>
              <a:rPr lang="pt-PT" sz="2400" dirty="0">
                <a:solidFill>
                  <a:schemeClr val="bg1"/>
                </a:solidFill>
              </a:rPr>
              <a:t>Implementação setorial da métrica;</a:t>
            </a:r>
          </a:p>
          <a:p>
            <a:endParaRPr lang="pt-PT" sz="2400" dirty="0">
              <a:solidFill>
                <a:schemeClr val="bg1"/>
              </a:solidFill>
            </a:endParaRPr>
          </a:p>
          <a:p>
            <a:r>
              <a:rPr lang="pt-PT" sz="2400" dirty="0">
                <a:solidFill>
                  <a:schemeClr val="bg1"/>
                </a:solidFill>
              </a:rPr>
              <a:t>Agregação de dados de várias partidas para fazer uma implementação individual da métrica;</a:t>
            </a:r>
          </a:p>
          <a:p>
            <a:endParaRPr lang="pt-PT" sz="2400" dirty="0">
              <a:solidFill>
                <a:schemeClr val="bg1"/>
              </a:solidFill>
            </a:endParaRPr>
          </a:p>
          <a:p>
            <a:r>
              <a:rPr lang="pt-PT" sz="2400" dirty="0">
                <a:solidFill>
                  <a:schemeClr val="bg1"/>
                </a:solidFill>
              </a:rPr>
              <a:t>Testagem de diferentes valores de comprimento de passe.</a:t>
            </a:r>
          </a:p>
          <a:p>
            <a:endParaRPr lang="pt-P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A356CD-907B-0D8E-6CB2-148B06E8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Desenvolvimentos:</a:t>
            </a:r>
          </a:p>
        </p:txBody>
      </p:sp>
    </p:spTree>
    <p:extLst>
      <p:ext uri="{BB962C8B-B14F-4D97-AF65-F5344CB8AC3E}">
        <p14:creationId xmlns:p14="http://schemas.microsoft.com/office/powerpoint/2010/main" val="644938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D5CAFB-09EE-4A0C-A3A3-C49D47A70F38}"/>
              </a:ext>
            </a:extLst>
          </p:cNvPr>
          <p:cNvSpPr/>
          <p:nvPr/>
        </p:nvSpPr>
        <p:spPr>
          <a:xfrm>
            <a:off x="0" y="4627285"/>
            <a:ext cx="12192000" cy="2230715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949362-7A77-4E5D-AD90-EC35B661D7F5}"/>
              </a:ext>
            </a:extLst>
          </p:cNvPr>
          <p:cNvGrpSpPr/>
          <p:nvPr/>
        </p:nvGrpSpPr>
        <p:grpSpPr>
          <a:xfrm>
            <a:off x="4043060" y="482988"/>
            <a:ext cx="4874512" cy="4317675"/>
            <a:chOff x="4043060" y="627366"/>
            <a:chExt cx="4874512" cy="43176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3DA3BAA-35E1-4F1B-A794-0857F2ECB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12000"/>
                      </a14:imgEffect>
                      <a14:imgEffect>
                        <a14:brightnessContrast bright="-5000"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3060" y="627366"/>
              <a:ext cx="4874512" cy="391971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084C62-0763-4D7B-9800-3FF98704C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0000" contras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4112" y="4176408"/>
              <a:ext cx="768633" cy="768633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/>
        </p:nvSpPr>
        <p:spPr>
          <a:xfrm>
            <a:off x="0" y="4927801"/>
            <a:ext cx="12192000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 err="1">
                <a:solidFill>
                  <a:schemeClr val="bg1"/>
                </a:solidFill>
                <a:cs typeface="Arial" pitchFamily="34" charset="0"/>
              </a:rPr>
              <a:t>Obrigado</a:t>
            </a:r>
            <a:r>
              <a:rPr lang="en-US" altLang="ko-KR" sz="5867" dirty="0">
                <a:solidFill>
                  <a:schemeClr val="bg1"/>
                </a:solidFill>
                <a:cs typeface="Arial" pitchFamily="34" charset="0"/>
              </a:rPr>
              <a:t>!</a:t>
            </a:r>
            <a:endParaRPr lang="ko-KR" altLang="en-US" sz="5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459</Words>
  <Application>Microsoft Office PowerPoint</Application>
  <PresentationFormat>Ecrã Panorâmico</PresentationFormat>
  <Paragraphs>96</Paragraphs>
  <Slides>12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Symbol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Exemplo 1: Meias-finais do EURO2024 – Países Baixos vs Inglaterra</vt:lpstr>
      <vt:lpstr>Apresentação do PowerPoint</vt:lpstr>
      <vt:lpstr>Exemplo 1: Meias-finais do EURO2024 – Países Baixos vs Inglaterra</vt:lpstr>
      <vt:lpstr>Exemplo 2: Final do EURO2024 – Espanha vs Inglaterra</vt:lpstr>
      <vt:lpstr>Exemplo 2: Final do EURO2024 – Espanha vs Inglaterra</vt:lpstr>
      <vt:lpstr>Exemplo 2: Final do EURO2024 – Espanha vs Inglaterra</vt:lpstr>
      <vt:lpstr>Desenvolvimentos: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Sérgio Perames Paraíso</dc:creator>
  <cp:lastModifiedBy>Paulo Sérgio Perames Paraíso</cp:lastModifiedBy>
  <cp:revision>6</cp:revision>
  <dcterms:created xsi:type="dcterms:W3CDTF">2024-12-06T14:31:46Z</dcterms:created>
  <dcterms:modified xsi:type="dcterms:W3CDTF">2024-12-06T17:05:07Z</dcterms:modified>
</cp:coreProperties>
</file>